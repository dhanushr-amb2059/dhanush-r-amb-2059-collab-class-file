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99.1</c:v>
                </c:pt>
                <c:pt idx="1">
                  <c:v>99</c:v>
                </c:pt>
                <c:pt idx="2">
                  <c:v>99.1</c:v>
                </c:pt>
                <c:pt idx="3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5C51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5C518"/>
                </a:solidFill>
                <a:latin typeface="Arial"/>
              </a:rPr>
              <a:t>Soil Nutrient Levels (Bangalore)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Soil Nutrients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Nitrogen (N)</c:v>
                  </c:pt>
                  <c:pt idx="1">
                    <c:v>Phosphorus (P)</c:v>
                  </c:pt>
                  <c:pt idx="2">
                    <c:v>Potassium (K)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58</c:v>
                </c:pt>
                <c:pt idx="2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5C51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5C518"/>
                </a:solidFill>
                <a:latin typeface="Arial"/>
              </a:rPr>
              <a:t>Weather Trend (Simulated)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T-2</c:v>
                  </c:pt>
                  <c:pt idx="1">
                    <c:v>T-1</c:v>
                  </c:pt>
                  <c:pt idx="2">
                    <c:v>Now</c:v>
                  </c:pt>
                  <c:pt idx="3">
                    <c:v>T+1</c:v>
                  </c:pt>
                  <c:pt idx="4">
                    <c:v>T+2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31</c:v>
                </c:pt>
                <c:pt idx="2">
                  <c:v>32.99</c:v>
                </c:pt>
                <c:pt idx="3">
                  <c:v>33</c:v>
                </c:pt>
                <c:pt idx="4">
                  <c:v>34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Humidity</c:v>
                </c:pt>
              </c:strCache>
            </c:strRef>
          </c:tx>
          <c:spPr>
            <a:solidFill>
              <a:srgbClr val="42A5F5"/>
            </a:solidFill>
            <a:ln w="31750" cap="flat">
              <a:solidFill>
                <a:srgbClr val="42A5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A5F5"/>
              </a:solidFill>
              <a:ln w="9525" cap="flat">
                <a:solidFill>
                  <a:srgbClr val="42A5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T-2</c:v>
                  </c:pt>
                  <c:pt idx="1">
                    <c:v>T-1</c:v>
                  </c:pt>
                  <c:pt idx="2">
                    <c:v>Now</c:v>
                  </c:pt>
                  <c:pt idx="3">
                    <c:v>T+1</c:v>
                  </c:pt>
                  <c:pt idx="4">
                    <c:v>T+2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34</c:v>
                </c:pt>
                <c:pt idx="2">
                  <c:v>33</c:v>
                </c:pt>
                <c:pt idx="3">
                  <c:v>32</c:v>
                </c:pt>
                <c:pt idx="4">
                  <c:v>31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Rainfall</c:v>
                </c:pt>
              </c:strCache>
            </c:strRef>
          </c:tx>
          <c:spPr>
            <a:solidFill>
              <a:srgbClr val="4CAF50"/>
            </a:solidFill>
            <a:ln w="31750" cap="flat">
              <a:solidFill>
                <a:srgbClr val="4CAF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T-2</c:v>
                  </c:pt>
                  <c:pt idx="1">
                    <c:v>T-1</c:v>
                  </c:pt>
                  <c:pt idx="2">
                    <c:v>Now</c:v>
                  </c:pt>
                  <c:pt idx="3">
                    <c:v>T+1</c:v>
                  </c:pt>
                  <c:pt idx="4">
                    <c:v>T+2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49</c:v>
                </c:pt>
                <c:pt idx="2">
                  <c:v>50</c:v>
                </c:pt>
                <c:pt idx="3">
                  <c:v>51</c:v>
                </c:pt>
                <c:pt idx="4">
                  <c:v>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5C51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5C518"/>
                </a:solidFill>
                <a:latin typeface="Arial"/>
              </a:rPr>
              <a:t>Soil Composition %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5100"/>
              </a:solidFill>
              <a:effectLst/>
            </c:spPr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bubble3D val="0"/>
            <c:spPr>
              <a:solidFill>
                <a:srgbClr val="42A5F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Nitrogen</c:v>
                </c:pt>
                <c:pt idx="1">
                  <c:v>Phosphorus</c:v>
                </c:pt>
                <c:pt idx="2">
                  <c:v>Potassium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</c:v>
                </c:pt>
                <c:pt idx="1">
                  <c:v>39</c:v>
                </c:pt>
                <c:pt idx="2">
                  <c:v>42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5C51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5C518"/>
                </a:solidFill>
                <a:latin typeface="Arial"/>
              </a:rPr>
              <a:t>Current vs. Ideal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Temp(°C)</c:v>
                  </c:pt>
                  <c:pt idx="1">
                    <c:v>Humidity(%)</c:v>
                  </c:pt>
                  <c:pt idx="2">
                    <c:v>Rainfall(mm)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32.99</c:v>
                </c:pt>
                <c:pt idx="1">
                  <c:v>33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Temp(°C)</c:v>
                  </c:pt>
                  <c:pt idx="1">
                    <c:v>Humidity(%)</c:v>
                  </c:pt>
                  <c:pt idx="2">
                    <c:v>Rainfall(mm)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1.jpg"/><Relationship Id="rId9" Type="http://schemas.openxmlformats.org/officeDocument/2006/relationships/image" Target="../media/image2.jpg"/><Relationship Id="rId10" Type="http://schemas.openxmlformats.org/officeDocument/2006/relationships/image" Target="../media/image3.jpg"/><Relationship Id="rId11" Type="http://schemas.openxmlformats.org/officeDocument/2006/relationships/image" Target="../media/image4.jpg"/><Relationship Id="rId12" Type="http://schemas.openxmlformats.org/officeDocument/2006/relationships/image" Target="../media/image5.jpg"/><Relationship Id="rId1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6B3A">
              <a:alpha val="50000"/>
            </a:srgbClr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6B3A">
              <a:alpha val="40000"/>
            </a:srgbClr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645920"/>
            <a:ext cx="109728" cy="22860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AI-BASED CROP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 SYSTEM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Real-Time Weather API Integration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7772400" cy="27432"/>
          </a:xfrm>
          <a:prstGeom prst="rect">
            <a:avLst/>
          </a:prstGeom>
          <a:solidFill>
            <a:srgbClr val="F5C518">
              <a:alpha val="6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" y="3154680"/>
            <a:ext cx="1828800" cy="82296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008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456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Dhanush R</a:t>
            </a:r>
          </a:p>
          <a:p>
            <a:r>
              <a:t>Sudeep</a:t>
            </a:r>
          </a:p>
        </p:txBody>
      </p:sp>
      <p:sp>
        <p:nvSpPr>
          <p:cNvPr id="13" name="Shape 10"/>
          <p:cNvSpPr/>
          <p:nvPr/>
        </p:nvSpPr>
        <p:spPr>
          <a:xfrm>
            <a:off x="2651760" y="3154680"/>
            <a:ext cx="1828800" cy="82296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65176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51760" y="3456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AMB2059</a:t>
            </a:r>
          </a:p>
          <a:p>
            <a:r>
              <a:t>AMB 2269</a:t>
            </a:r>
          </a:p>
        </p:txBody>
      </p:sp>
      <p:sp>
        <p:nvSpPr>
          <p:cNvPr id="16" name="Shape 13"/>
          <p:cNvSpPr/>
          <p:nvPr/>
        </p:nvSpPr>
        <p:spPr>
          <a:xfrm>
            <a:off x="4663440" y="3154680"/>
            <a:ext cx="1828800" cy="82296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66344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63440" y="3456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EAI-421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3154680"/>
            <a:ext cx="1828800" cy="82296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7512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3456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16/04/2026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5D6A7"/>
                </a:solidFill>
              </a:rPr>
              <a:t>University of Agricultural Sciences × REVA University, Bengaluru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66160"/>
            <a:ext cx="731520" cy="73152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566160"/>
            <a:ext cx="548640" cy="548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217920" y="1005840"/>
            <a:ext cx="2560320" cy="256032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21792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D2"/>
                </a:solidFill>
              </a:rPr>
              <a:t>CROP FAILURE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CDD2"/>
                </a:solidFill>
              </a:rPr>
              <a:t>RATE IN INDIA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5669280" cy="713232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188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choose crops based on TRADITION, not science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65760" y="1947672"/>
            <a:ext cx="5669280" cy="713232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7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0391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nutrients (N, P, K, pH) are IGNORED in crop selection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365760" y="2798064"/>
            <a:ext cx="5669280" cy="713232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0779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8895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NOT considered before sowing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65760" y="3648456"/>
            <a:ext cx="5669280" cy="713232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7398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Financial losses &amp; wasted resources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10"/>
          </a:solidFill>
          <a:ln w="12700">
            <a:solidFill>
              <a:srgbClr val="0D2B1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474720" y="1371600"/>
            <a:ext cx="2194560" cy="2194560"/>
          </a:xfrm>
          <a:prstGeom prst="ellipse">
            <a:avLst/>
          </a:prstGeom>
          <a:solidFill>
            <a:srgbClr val="F5C518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474720" y="1920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INPUTS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1554480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554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🌱 Nitrogen (N)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" y="1993392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🌿 Phosphorus (P)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2880" y="2432304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24323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🌾 Potassium (K)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82880" y="2871216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28712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⚗️ Soil pH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2880" y="3310128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3310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🌤 Temperature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82880" y="3749040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💧 Humidity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82880" y="4187952"/>
            <a:ext cx="23774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187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🌧 Rainfall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560320" y="2468880"/>
            <a:ext cx="914400" cy="0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OUTPUTS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400800" y="1600200"/>
            <a:ext cx="246888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Recommended Crop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0" y="2240280"/>
            <a:ext cx="246888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Yield Score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0" y="2880360"/>
            <a:ext cx="246888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🌱 Soil Health Report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0" y="3520440"/>
            <a:ext cx="246888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6 Visual Charts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76072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TextBox 33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DATASET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011680" cy="123444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468880" y="1097280"/>
            <a:ext cx="2011680" cy="123444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4688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Columns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2011680" cy="123444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66344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Crop Types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2011680" cy="123444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8580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475488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280160"/>
              </a:tblGrid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1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Nitrogen (N)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0 – 140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mg/kg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Phosphorus (P)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5 – 145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mg/kg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Potassium (K)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5 – 205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mg/kg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Temperature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8.8 – 43.7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°C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Humidity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14.3 – 99.9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pH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3.5 – 9.9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Rainfall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20.2 – 298.6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mm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3949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CROPS COVERED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394960" y="288036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9496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🍚 Rice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132320" y="288036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🌽 Maize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394960" y="3264408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9496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🫘 Chickpea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132320" y="3264408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3232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☕ Coffee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394960" y="3648456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94960" y="36484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🍌 Banana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132320" y="3648456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32320" y="36484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🥭 Mango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394960" y="4032504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394960" y="40325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🍇 Grapes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132320" y="4032504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132320" y="40325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🍉 Watermelon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394960" y="4416552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94960" y="4416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🍎 Apple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7132320" y="4416552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132320" y="4416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🍊 Orange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394960" y="48006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394960" y="4800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🥥 Coconut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7132320" y="48006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A5D6A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132320" y="4800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1F"/>
                </a:solidFill>
              </a:rPr>
              <a:t>🌿 Cotton</a:t>
            </a:r>
            <a:endParaRPr 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0D13"/>
          </a:solidFill>
          <a:ln w="12700">
            <a:solidFill>
              <a:srgbClr val="060D1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1554480" cy="2286000"/>
          </a:xfrm>
          <a:prstGeom prst="rect">
            <a:avLst/>
          </a:prstGeom>
          <a:solidFill>
            <a:srgbClr val="1565C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188720"/>
            <a:ext cx="548640" cy="548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EEE"/>
                </a:solidFill>
              </a:rPr>
              <a:t>2,200 crop records loaded from 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0" y="1920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011680" y="1143000"/>
            <a:ext cx="1554480" cy="2286000"/>
          </a:xfrm>
          <a:prstGeom prst="rect">
            <a:avLst/>
          </a:prstGeom>
          <a:solidFill>
            <a:srgbClr val="4527A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188720"/>
            <a:ext cx="548640" cy="548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01168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1168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EEE"/>
                </a:solidFill>
              </a:rPr>
              <a:t>Yield score = T×0.3 + H×0.2 + R×0.5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66160" y="1920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749040" y="1143000"/>
            <a:ext cx="1554480" cy="2286000"/>
          </a:xfrm>
          <a:prstGeom prst="rect">
            <a:avLst/>
          </a:prstGeom>
          <a:solidFill>
            <a:srgbClr val="1A6B3A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51960" y="1188720"/>
            <a:ext cx="548640" cy="548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74904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74904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EEE"/>
                </a:solidFill>
              </a:rPr>
              <a:t>RF Classifier + RF Regressor trained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03520" y="1920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5486400" y="1143000"/>
            <a:ext cx="1554480" cy="2286000"/>
          </a:xfrm>
          <a:prstGeom prst="rect">
            <a:avLst/>
          </a:prstGeom>
          <a:solidFill>
            <a:srgbClr val="00695C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1188720"/>
            <a:ext cx="548640" cy="548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864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EEE"/>
                </a:solidFill>
              </a:rPr>
              <a:t>Live data fetched via OpenWeatherMap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1920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7223760" y="1143000"/>
            <a:ext cx="1554480" cy="2286000"/>
          </a:xfrm>
          <a:prstGeom prst="rect">
            <a:avLst/>
          </a:prstGeom>
          <a:solidFill>
            <a:srgbClr val="E6510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26680" y="1188720"/>
            <a:ext cx="548640" cy="548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22376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VISUALIZE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2376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EEE"/>
                </a:solidFill>
              </a:rPr>
              <a:t>Crop + Yield + 6 Charts generated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3566160"/>
            <a:ext cx="8595360" cy="1005840"/>
          </a:xfrm>
          <a:prstGeom prst="rect">
            <a:avLst/>
          </a:prstGeom>
          <a:solidFill>
            <a:srgbClr val="1A1A2E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DATA PREPROCESSING: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No missing values   ✓ No explicit scaling needed (RF uses thresholds, not distances)   ✓ Duplicates checked   ✓ Outliers verified</a:t>
            </a:r>
            <a:endParaRPr lang="en-US" sz="1300" dirty="0"/>
          </a:p>
        </p:txBody>
      </p:sp>
      <p:sp>
        <p:nvSpPr>
          <p:cNvPr id="37" name="TextBox 36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RANDOM FOREST?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3200400"/>
            <a:ext cx="182880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2743200"/>
            <a:ext cx="73152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286000"/>
            <a:ext cx="640080" cy="54864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920240"/>
            <a:ext cx="548640" cy="457200"/>
          </a:xfrm>
          <a:prstGeom prst="ellipse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Tree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3200400"/>
            <a:ext cx="182880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2743200"/>
            <a:ext cx="73152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74520" y="2286000"/>
            <a:ext cx="640080" cy="54864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20240" y="1920240"/>
            <a:ext cx="548640" cy="457200"/>
          </a:xfrm>
          <a:prstGeom prst="ellipse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Tree 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0" y="3200400"/>
            <a:ext cx="182880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2743200"/>
            <a:ext cx="73152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2286000"/>
            <a:ext cx="640080" cy="54864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920240"/>
            <a:ext cx="548640" cy="457200"/>
          </a:xfrm>
          <a:prstGeom prst="ellipse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Tree 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200400"/>
            <a:ext cx="182880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89120" y="2743200"/>
            <a:ext cx="73152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286000"/>
            <a:ext cx="640080" cy="54864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1920240"/>
            <a:ext cx="548640" cy="457200"/>
          </a:xfrm>
          <a:prstGeom prst="ellipse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Tree 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0" y="3200400"/>
            <a:ext cx="182880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2743200"/>
            <a:ext cx="73152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15000" y="2286000"/>
            <a:ext cx="640080" cy="54864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60720" y="1920240"/>
            <a:ext cx="548640" cy="457200"/>
          </a:xfrm>
          <a:prstGeom prst="ellipse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Tree 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1645920"/>
            <a:ext cx="2651760" cy="246888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1792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🗳 MAJORITY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309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</a:rPr>
              <a:t>RICE: 🟩🟩🟩🟩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30936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54F"/>
                </a:solidFill>
              </a:rPr>
              <a:t>MAIZE: 🟩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0936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 RICE WINS!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669280" y="2743200"/>
            <a:ext cx="54864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365760" y="1188720"/>
            <a:ext cx="2651760" cy="56692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80160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68680" y="1225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No Scaling Needed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868680" y="1481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Uses thresholds, not distances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3200400" y="1188720"/>
            <a:ext cx="2651760" cy="566928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280160"/>
            <a:ext cx="365760" cy="36576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3703320" y="1225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Handles 22 Classes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3703320" y="1481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Multi-class naturally supported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365760" y="1847088"/>
            <a:ext cx="2651760" cy="56692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38528"/>
            <a:ext cx="365760" cy="36576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68680" y="1883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Outlier Robust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68680" y="2139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Ensemble averaging reduces noise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3200400" y="1847088"/>
            <a:ext cx="2651760" cy="566928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938528"/>
            <a:ext cx="365760" cy="36576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3703320" y="1883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High Accuracy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3703320" y="2139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~99% on agricultural data</a:t>
            </a:r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0C16"/>
          </a:solidFill>
          <a:ln w="12700">
            <a:solidFill>
              <a:srgbClr val="050C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WEATHER API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2194560" cy="1097280"/>
          </a:xfrm>
          <a:prstGeom prst="rect">
            <a:avLst/>
          </a:prstGeom>
          <a:solidFill>
            <a:srgbClr val="1565C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234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👨‍🌾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Enters City Name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460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</a:rPr>
              <a:t>━━━▶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377440" cy="1097280"/>
          </a:xfrm>
          <a:prstGeom prst="rect">
            <a:avLst/>
          </a:prstGeom>
          <a:solidFill>
            <a:srgbClr val="00695C"/>
          </a:solidFill>
          <a:ln w="254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234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OpenWeatherMap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Call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18"/>
                </a:solidFill>
              </a:rPr>
              <a:t>━━━▶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46520" y="1188720"/>
            <a:ext cx="2377440" cy="1097280"/>
          </a:xfrm>
          <a:prstGeom prst="rect">
            <a:avLst/>
          </a:prstGeom>
          <a:solidFill>
            <a:srgbClr val="2E7D32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234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Returned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2423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FETCHED IN REAL-TIME: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2011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🌡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576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CAF9"/>
                </a:solidFill>
              </a:rPr>
              <a:t>°C from API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0" y="2834640"/>
            <a:ext cx="2011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5603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Humidity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6032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CAF9"/>
                </a:solidFill>
              </a:rPr>
              <a:t>% from API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2834640"/>
            <a:ext cx="2011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🌧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Rainfall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75488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CAF9"/>
                </a:solidFill>
              </a:rPr>
              <a:t>1hr rain × 10mm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949440" y="2834640"/>
            <a:ext cx="2011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9494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Fallback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4944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CAF9"/>
                </a:solidFill>
              </a:rPr>
              <a:t>5mm if no rain data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📍 EXAMPLE — BANGALORE: Temp: 32.99°C  |  Humidity: 33%  |  Rainfall: 50mm  →  Recommended: mothbeans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AI MODELS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114800" cy="352044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4114800" cy="594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972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1: CLASSIFIER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1645920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Random Forest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Classifier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Task: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Predict best crop
</a:t>
            </a:r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Output: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 of 22 crop classes
</a:t>
            </a:r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Accuracy: </a:t>
            </a:r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~99.1%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4114800" cy="3520440"/>
          </a:xfrm>
          <a:prstGeom prst="rect">
            <a:avLst/>
          </a:prstGeom>
          <a:solidFill>
            <a:srgbClr val="0D2B47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97280"/>
            <a:ext cx="41148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0972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2: REGRESSOR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1645920" cy="11887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CAF9"/>
                </a:solidFill>
              </a:rPr>
              <a:t>Random Forest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0CAF9"/>
                </a:solidFill>
              </a:rPr>
              <a:t>Regressor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4632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</a:rPr>
              <a:t>Task: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Estimate yield score
</a:t>
            </a:r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</a:rPr>
              <a:t>Formula: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T×0.3+H×0.2+R×0.5
</a:t>
            </a:r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</a:rPr>
              <a:t>R² Score: </a:t>
            </a:r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~0.9997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METRICS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1554480" cy="1920240"/>
          </a:xfrm>
          <a:prstGeom prst="rect">
            <a:avLst/>
          </a:prstGeom>
          <a:solidFill>
            <a:srgbClr val="1B5E2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88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Accuracy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11680" y="1097280"/>
            <a:ext cx="1554480" cy="1920240"/>
          </a:xfrm>
          <a:prstGeom prst="rect">
            <a:avLst/>
          </a:prstGeom>
          <a:solidFill>
            <a:srgbClr val="0D47A1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188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01168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Precision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01168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</a:rPr>
              <a:t>Weighted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1097280"/>
            <a:ext cx="1554480" cy="1920240"/>
          </a:xfrm>
          <a:prstGeom prst="rect">
            <a:avLst/>
          </a:prstGeom>
          <a:solidFill>
            <a:srgbClr val="4A148C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49040" y="1188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99.1%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74904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Recall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4904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</a:rPr>
              <a:t>Weighted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1097280"/>
            <a:ext cx="1554480" cy="1920240"/>
          </a:xfrm>
          <a:prstGeom prst="rect">
            <a:avLst/>
          </a:prstGeom>
          <a:solidFill>
            <a:srgbClr val="00695C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0" y="1188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0.9997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48640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R² Score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</a:rPr>
              <a:t>Regressor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23760" y="1097280"/>
            <a:ext cx="1554480" cy="1920240"/>
          </a:xfrm>
          <a:prstGeom prst="rect">
            <a:avLst/>
          </a:prstGeom>
          <a:solidFill>
            <a:srgbClr val="E6510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23760" y="1188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1.82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22376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RMSE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2376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</a:rPr>
              <a:t>Regressor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3108960"/>
          <a:ext cx="50292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5486400" y="3108960"/>
            <a:ext cx="3291840" cy="1645920"/>
          </a:xfrm>
          <a:prstGeom prst="rect">
            <a:avLst/>
          </a:prstGeom>
          <a:solidFill>
            <a:srgbClr val="1A2A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WHY SO HIGH?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577840" y="3520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✓ Well-structured Kaggle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✓ Clear feature-label relationships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✓ 22 crops well-separated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✓ Random Forest ensemble power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10"/>
          </a:solidFill>
          <a:ln w="12700">
            <a:solidFill>
              <a:srgbClr val="0D2B1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 INTERFACE — GRADIO UI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AI Crop Recommendation System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Enter Region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Bangalore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840480" cy="1691640"/>
          </a:xfrm>
          <a:prstGeom prst="rect">
            <a:avLst/>
          </a:prstGeom>
          <a:solidFill>
            <a:srgbClr val="F9FF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1F"/>
                </a:solidFill>
              </a:rPr>
              <a:t>🌱 Recommended Crop: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137160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246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mothbeans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🌱 Soil: N: Low | P: High | K: High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0050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📊 Yield Score: 44.16  |  🌡 32.99°C  |  💧 33%  |  🌧 50mm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4880" y="160020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🏙  Just type ANY city name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54880" y="214884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Real-time weather data fetched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54880" y="269748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2697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🌾  Crop recommendation in seconds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54880" y="324612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6 charts generated automatically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754880" y="379476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👩‍🌾  Designed for non-tech users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🔓  No login required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OUTPUT — BANGALORE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8595360" cy="1554480"/>
          </a:xfrm>
          <a:prstGeom prst="rect">
            <a:avLst/>
          </a:prstGeom>
          <a:solidFill>
            <a:srgbClr val="0A3D1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1371600" cy="13716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417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920240" y="1188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D6A7"/>
                </a:solidFill>
              </a:rPr>
              <a:t>RECOMMENDED CROP: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5727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mothbeans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Yield Score: 44.16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</a:rPr>
              <a:t>Confidence: HIGH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4320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32.99 °C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719072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19072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719072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Humidity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719072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33 %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163824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163824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🌧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163824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Rainfall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163824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50 mm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08576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08576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608576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Nitrogen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08576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LOW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53328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053328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053328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Phosphorus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HIGH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98080" y="2788920"/>
            <a:ext cx="1371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498080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498080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Potassium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49808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1F"/>
                </a:solidFill>
              </a:rPr>
              <a:t>HIGH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1F"/>
                </a:solidFill>
              </a:rPr>
              <a:t>🧬 SOIL HEALTH REPORT: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2743200" y="406908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Nitrogen: LOW ⚠️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846320" y="406908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Phosphorus: HIGH ✅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949440" y="406908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4944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Potassium: HIGH ✅</a:t>
            </a:r>
            <a:endParaRPr lang="en-US" sz="1300" dirty="0"/>
          </a:p>
        </p:txBody>
      </p:sp>
      <p:sp>
        <p:nvSpPr>
          <p:cNvPr id="44" name="TextBox 43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DYNAMIC VISUALIZATIONS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43200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8872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Soil Nutrient Bar Chart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N, P, K levels as vertical bars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743200" cy="173736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18872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93192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918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Data Bar Chart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Temp, Humidity, Rainfall side-by-side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1097280"/>
            <a:ext cx="2743200" cy="173736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18872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1792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Yield Prediction Bar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Predicted yield score visualized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10896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05840" y="3127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36576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Trend Line Plot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5-point simulated weather trend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1840" y="310896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918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3931920" y="3127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🥧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29184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Soil Composition Pie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29184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Proportional nutrient breakdown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880E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858000" y="3127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2179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vs. Ideal Conditions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1792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Your values vs. ideal agricultural levels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0C16"/>
          </a:solidFill>
          <a:ln w="12700">
            <a:solidFill>
              <a:srgbClr val="050C1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VISUALIZATIONS — LIVE CHARTS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9728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274320" y="3017520"/>
          <a:ext cx="4114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4754880" y="3017520"/>
          <a:ext cx="4114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9" name="Picture 8" descr="93ea51b3-0fba-4ff2-b9fd-5bc3944f6db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371600"/>
            <a:ext cx="2743200" cy="1828800"/>
          </a:xfrm>
          <a:prstGeom prst="rect">
            <a:avLst/>
          </a:prstGeom>
        </p:spPr>
      </p:pic>
      <p:pic>
        <p:nvPicPr>
          <p:cNvPr id="10" name="Picture 9" descr="ef6f927f-e862-446a-aaf3-3e5d18291a3f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1371600"/>
            <a:ext cx="2743200" cy="1828800"/>
          </a:xfrm>
          <a:prstGeom prst="rect">
            <a:avLst/>
          </a:prstGeom>
        </p:spPr>
      </p:pic>
      <p:pic>
        <p:nvPicPr>
          <p:cNvPr id="11" name="Picture 10" descr="5660d364-f1c5-466d-b493-12c46202b7da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1371600"/>
            <a:ext cx="2743200" cy="1828800"/>
          </a:xfrm>
          <a:prstGeom prst="rect">
            <a:avLst/>
          </a:prstGeom>
        </p:spPr>
      </p:pic>
      <p:pic>
        <p:nvPicPr>
          <p:cNvPr id="12" name="Picture 11" descr="5924be68-13e7-424e-8391-428e3fa69438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200400"/>
            <a:ext cx="2743200" cy="1828800"/>
          </a:xfrm>
          <a:prstGeom prst="rect">
            <a:avLst/>
          </a:prstGeom>
        </p:spPr>
      </p:pic>
      <p:pic>
        <p:nvPicPr>
          <p:cNvPr id="13" name="Picture 12" descr="d5314fa4-c70a-4b13-a988-a3dd7b27b78b.jpe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3200400"/>
            <a:ext cx="2743200" cy="1828800"/>
          </a:xfrm>
          <a:prstGeom prst="rect">
            <a:avLst/>
          </a:prstGeom>
        </p:spPr>
      </p:pic>
      <p:pic>
        <p:nvPicPr>
          <p:cNvPr id="14" name="Picture 13" descr="d57866c1-535d-4c35-b738-bf7fc095b03f.jpe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0" y="3200400"/>
            <a:ext cx="27432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 &amp;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STRENGTHS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42062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099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Real-time weather makes it context-aware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276856"/>
            <a:ext cx="4206240" cy="530352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2257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304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Gradio UI: No technical knowledge needed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889504"/>
            <a:ext cx="42062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3522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29169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6 charts = rich analytical insights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274320" y="3502152"/>
            <a:ext cx="4206240" cy="530352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4787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52958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RF handles mixed data, no scaling needed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74320" y="4114800"/>
            <a:ext cx="42062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605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41422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Fast prediction — results in seconds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LIMITATIONS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4754880" y="1664208"/>
            <a:ext cx="41148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709928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Soil N,P,K: random sample, not real sensor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54880" y="2276856"/>
            <a:ext cx="4114800" cy="530352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322576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23042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Rainfall: 1-hour API, not seasonal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4754880" y="2889504"/>
            <a:ext cx="41148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935224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57800" y="29169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Yield score is synthetic, not validated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4754880" y="3502152"/>
            <a:ext cx="4114800" cy="530352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547872"/>
            <a:ext cx="365760" cy="3657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57800" y="35295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No crop rotation or irrigation data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754880" y="4114800"/>
            <a:ext cx="41148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160520"/>
            <a:ext cx="365760" cy="36576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57800" y="4142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Full dataset training — no train/test split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0E06"/>
          </a:solidFill>
          <a:ln w="12700">
            <a:solidFill>
              <a:srgbClr val="060E0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43200" cy="1737360"/>
          </a:xfrm>
          <a:prstGeom prst="rect">
            <a:avLst/>
          </a:prstGeom>
          <a:solidFill>
            <a:srgbClr val="0D47A1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💧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Irrigation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Extend to evapotranspiration models → save 40% water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743200" cy="1737360"/>
          </a:xfrm>
          <a:prstGeom prst="rect">
            <a:avLst/>
          </a:prstGeom>
          <a:solidFill>
            <a:srgbClr val="880E4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9184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Disease Detection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918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Replace crop label with disease type + CNN on field photos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2743200" cy="1737360"/>
          </a:xfrm>
          <a:prstGeom prst="rect">
            <a:avLst/>
          </a:prstGeom>
          <a:solidFill>
            <a:srgbClr val="4A148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1792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Yield Forecasting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1792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Predict seasonal volumes for market &amp; supply chain planning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00695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7432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5760" y="3675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Fertilizer Optimizer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57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N,P,K thresholds → specific dosage recommendations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0040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291840" y="3675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Government Advisory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Scale to district-level SMS advisory for extension officers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1B5E20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2648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🛰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217920" y="3675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Satellite NDVI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21792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Integrate satellite crop health monitoring data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1280160" cy="7772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430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54480" y="1143000"/>
            <a:ext cx="7315200" cy="777240"/>
          </a:xfrm>
          <a:prstGeom prst="rect">
            <a:avLst/>
          </a:prstGeom>
          <a:solidFill>
            <a:srgbClr val="E8F5E9"/>
          </a:solidFill>
          <a:ln w="25400">
            <a:solidFill>
              <a:srgbClr val="1A6B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16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 Real Soil Sensors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15544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Integrate IoT soil sensor APIs for live N,P,K,pH readings instead of dataset samples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075688"/>
            <a:ext cx="12801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320" y="207568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54480" y="2075688"/>
            <a:ext cx="7315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Real Yield Data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91640" y="248716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Replace synthetic yield_score with actual crop yield records (kg/hectare) from government data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008376"/>
            <a:ext cx="128016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4320" y="3008376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54480" y="3008376"/>
            <a:ext cx="7315200" cy="777240"/>
          </a:xfrm>
          <a:prstGeom prst="rect">
            <a:avLst/>
          </a:prstGeom>
          <a:solidFill>
            <a:srgbClr val="E8F5E9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30540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 Disease Prediction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91640" y="341985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Extend model to predict crop diseases using CNN analysis of field photographs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941064"/>
            <a:ext cx="1280160" cy="777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74320" y="394106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554480" y="3941064"/>
            <a:ext cx="7315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91640" y="3986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Mobile App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91640" y="4352544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Native Android/iOS app with offline mode for farmers in low-connectivity rural areas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A3D1F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🎯 Vision: Full-stack AI precision agriculture platform for Indian smallholder farmers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0D12"/>
          </a:solidFill>
          <a:ln w="12700">
            <a:solidFill>
              <a:srgbClr val="080D1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CODE SUMMARY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3572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7043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4300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600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98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17043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9080" y="1600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ML Models (RF)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1504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117043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🐼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99516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95160" y="1600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33172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74320" y="240487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14300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Web UI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00400" y="233172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1155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00400" y="240487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06908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06908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6 Charts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26480" y="2331720"/>
            <a:ext cx="27432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26480" y="240487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🌤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99516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OpenWeatherMap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9516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Weather API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393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pandas scikit-learn requests gradio matplotlib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3251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518"/>
                </a:solidFill>
              </a:rPr>
              <a:t>📒 Google Colab: colab.research.google.com/drive/1-PfnF5Jk_DRZK0A_E-ZKL5m74GBHxIEC</a:t>
            </a:r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1A6B3A">
              <a:alpha val="50000"/>
            </a:srgbClr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6B3A">
              <a:alpha val="40000"/>
            </a:srgbClr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09728" cy="1828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SUMMARY...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AI THAT HELPS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FARMERS GROW SMARTER 🌾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94360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000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~99% accuracy with Random Forest Classifier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594360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620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Real-time weather via OpenWeatherMap 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594360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7413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Soil health + yield score + 6 visual charts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67912"/>
            <a:ext cx="594360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8620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Simple Gradio UI — usable by any farmer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4165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🙏  THANK YOU! — Dhanush R | AMB2059 | EAI-421 | UAS × REVA University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11680"/>
            <a:ext cx="1828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69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Crop Recommendation System</dc:title>
  <dc:subject>PptxGenJS Presentation</dc:subject>
  <dc:creator>PptxGenJS</dc:creator>
  <cp:lastModifiedBy>PptxGenJS</cp:lastModifiedBy>
  <cp:revision>1</cp:revision>
  <dcterms:created xsi:type="dcterms:W3CDTF">2026-04-15T18:34:05Z</dcterms:created>
  <dcterms:modified xsi:type="dcterms:W3CDTF">2026-04-15T18:34:05Z</dcterms:modified>
</cp:coreProperties>
</file>